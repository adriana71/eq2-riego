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8" y="-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Luis Gonzalez-Cordoba, Ph.D." userId="b23de65d63195803" providerId="LiveId" clId="{5B5B4143-B53C-41A3-B6C0-E753FCBE3FB3}"/>
    <pc:docChg chg="undo custSel modSld">
      <pc:chgData name="J. Luis Gonzalez-Cordoba, Ph.D." userId="b23de65d63195803" providerId="LiveId" clId="{5B5B4143-B53C-41A3-B6C0-E753FCBE3FB3}" dt="2026-08-17T20:51:24.891" v="132" actId="20577"/>
      <pc:docMkLst>
        <pc:docMk/>
      </pc:docMkLst>
      <pc:sldChg chg="addSp modSp mod">
        <pc:chgData name="J. Luis Gonzalez-Cordoba, Ph.D." userId="b23de65d63195803" providerId="LiveId" clId="{5B5B4143-B53C-41A3-B6C0-E753FCBE3FB3}" dt="2026-08-17T20:46:46.260" v="58" actId="1036"/>
        <pc:sldMkLst>
          <pc:docMk/>
          <pc:sldMk cId="0" sldId="256"/>
        </pc:sldMkLst>
        <pc:spChg chg="mod">
          <ac:chgData name="J. Luis Gonzalez-Cordoba, Ph.D." userId="b23de65d63195803" providerId="LiveId" clId="{5B5B4143-B53C-41A3-B6C0-E753FCBE3FB3}" dt="2026-08-17T20:46:26.864" v="40" actId="1035"/>
          <ac:spMkLst>
            <pc:docMk/>
            <pc:sldMk cId="0" sldId="256"/>
            <ac:spMk id="4" creationId="{00000000-0000-0000-0000-000000000000}"/>
          </ac:spMkLst>
        </pc:spChg>
        <pc:spChg chg="mod">
          <ac:chgData name="J. Luis Gonzalez-Cordoba, Ph.D." userId="b23de65d63195803" providerId="LiveId" clId="{5B5B4143-B53C-41A3-B6C0-E753FCBE3FB3}" dt="2026-08-17T20:46:26.864" v="40" actId="1035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J. Luis Gonzalez-Cordoba, Ph.D." userId="b23de65d63195803" providerId="LiveId" clId="{5B5B4143-B53C-41A3-B6C0-E753FCBE3FB3}" dt="2026-08-17T20:46:46.260" v="58" actId="1036"/>
          <ac:spMkLst>
            <pc:docMk/>
            <pc:sldMk cId="0" sldId="256"/>
            <ac:spMk id="21" creationId="{635D4BA4-3788-BE05-F55C-25F00C04853C}"/>
          </ac:spMkLst>
        </pc:spChg>
      </pc:sldChg>
      <pc:sldChg chg="modSp mod">
        <pc:chgData name="J. Luis Gonzalez-Cordoba, Ph.D." userId="b23de65d63195803" providerId="LiveId" clId="{5B5B4143-B53C-41A3-B6C0-E753FCBE3FB3}" dt="2026-08-17T20:46:59.817" v="59" actId="20577"/>
        <pc:sldMkLst>
          <pc:docMk/>
          <pc:sldMk cId="0" sldId="257"/>
        </pc:sldMkLst>
        <pc:spChg chg="mod">
          <ac:chgData name="J. Luis Gonzalez-Cordoba, Ph.D." userId="b23de65d63195803" providerId="LiveId" clId="{5B5B4143-B53C-41A3-B6C0-E753FCBE3FB3}" dt="2026-08-17T20:46:59.817" v="59" actId="20577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J. Luis Gonzalez-Cordoba, Ph.D." userId="b23de65d63195803" providerId="LiveId" clId="{5B5B4143-B53C-41A3-B6C0-E753FCBE3FB3}" dt="2026-08-17T20:49:21.219" v="78" actId="20577"/>
        <pc:sldMkLst>
          <pc:docMk/>
          <pc:sldMk cId="0" sldId="258"/>
        </pc:sldMkLst>
        <pc:spChg chg="mod">
          <ac:chgData name="J. Luis Gonzalez-Cordoba, Ph.D." userId="b23de65d63195803" providerId="LiveId" clId="{5B5B4143-B53C-41A3-B6C0-E753FCBE3FB3}" dt="2026-08-17T20:49:13.842" v="63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J. Luis Gonzalez-Cordoba, Ph.D." userId="b23de65d63195803" providerId="LiveId" clId="{5B5B4143-B53C-41A3-B6C0-E753FCBE3FB3}" dt="2026-08-17T20:49:21.219" v="78" actId="20577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J. Luis Gonzalez-Cordoba, Ph.D." userId="b23de65d63195803" providerId="LiveId" clId="{5B5B4143-B53C-41A3-B6C0-E753FCBE3FB3}" dt="2026-08-17T20:50:28.786" v="87" actId="20577"/>
        <pc:sldMkLst>
          <pc:docMk/>
          <pc:sldMk cId="0" sldId="259"/>
        </pc:sldMkLst>
        <pc:spChg chg="mod">
          <ac:chgData name="J. Luis Gonzalez-Cordoba, Ph.D." userId="b23de65d63195803" providerId="LiveId" clId="{5B5B4143-B53C-41A3-B6C0-E753FCBE3FB3}" dt="2026-08-17T20:49:59.695" v="81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J. Luis Gonzalez-Cordoba, Ph.D." userId="b23de65d63195803" providerId="LiveId" clId="{5B5B4143-B53C-41A3-B6C0-E753FCBE3FB3}" dt="2026-08-17T20:50:28.786" v="87" actId="20577"/>
          <ac:spMkLst>
            <pc:docMk/>
            <pc:sldMk cId="0" sldId="259"/>
            <ac:spMk id="10" creationId="{00000000-0000-0000-0000-000000000000}"/>
          </ac:spMkLst>
        </pc:spChg>
      </pc:sldChg>
      <pc:sldChg chg="modSp mod">
        <pc:chgData name="J. Luis Gonzalez-Cordoba, Ph.D." userId="b23de65d63195803" providerId="LiveId" clId="{5B5B4143-B53C-41A3-B6C0-E753FCBE3FB3}" dt="2026-08-17T20:51:24.891" v="132" actId="20577"/>
        <pc:sldMkLst>
          <pc:docMk/>
          <pc:sldMk cId="0" sldId="260"/>
        </pc:sldMkLst>
        <pc:spChg chg="mod">
          <ac:chgData name="J. Luis Gonzalez-Cordoba, Ph.D." userId="b23de65d63195803" providerId="LiveId" clId="{5B5B4143-B53C-41A3-B6C0-E753FCBE3FB3}" dt="2026-08-17T20:51:24.891" v="132" actId="20577"/>
          <ac:spMkLst>
            <pc:docMk/>
            <pc:sldMk cId="0" sldId="260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1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F5D3F">
              <a:alpha val="6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280160" y="4572000"/>
            <a:ext cx="4023360" cy="4023360"/>
          </a:xfrm>
          <a:prstGeom prst="ellipse">
            <a:avLst/>
          </a:prstGeom>
          <a:solidFill>
            <a:srgbClr val="5B8C72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822960" y="61157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DESARROLLO DE TECNOLOGÍAS EN AUTOMATIZACIÓN 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6877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Propuestas de Proyecto: Agricultura de Precisión para Plántulas de Tomate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proyectos integradores vinculados con las asignaturas de 1°, 2° y 3° semestre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3337560" cy="1737360"/>
          </a:xfrm>
          <a:prstGeom prst="roundRect">
            <a:avLst>
              <a:gd name="adj" fmla="val 6316"/>
            </a:avLst>
          </a:prstGeom>
          <a:solidFill>
            <a:srgbClr val="1B4A34"/>
          </a:solidFill>
          <a:ln w="1905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051560" y="4553712"/>
            <a:ext cx="502920" cy="502920"/>
          </a:xfrm>
          <a:prstGeom prst="ellipse">
            <a:avLst/>
          </a:prstGeom>
          <a:solidFill>
            <a:srgbClr val="2C5F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051560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5166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Riego automático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precisión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4297680"/>
            <a:ext cx="3337560" cy="1737360"/>
          </a:xfrm>
          <a:prstGeom prst="roundRect">
            <a:avLst>
              <a:gd name="adj" fmla="val 6316"/>
            </a:avLst>
          </a:prstGeom>
          <a:solidFill>
            <a:srgbClr val="1B4A34"/>
          </a:solidFill>
          <a:ln w="19050">
            <a:solidFill>
              <a:srgbClr val="5B8C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663440" y="4553712"/>
            <a:ext cx="502920" cy="502920"/>
          </a:xfrm>
          <a:prstGeom prst="ellipse">
            <a:avLst/>
          </a:prstGeom>
          <a:solidFill>
            <a:srgbClr val="5B8C7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663440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5166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IoT de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humedad y temperatura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4297680"/>
            <a:ext cx="3337560" cy="1737360"/>
          </a:xfrm>
          <a:prstGeom prst="roundRect">
            <a:avLst>
              <a:gd name="adj" fmla="val 6316"/>
            </a:avLst>
          </a:prstGeom>
          <a:solidFill>
            <a:srgbClr val="1B4A34"/>
          </a:solidFill>
          <a:ln w="19050">
            <a:solidFill>
              <a:srgbClr val="D97B2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275320" y="4553712"/>
            <a:ext cx="502920" cy="502920"/>
          </a:xfrm>
          <a:prstGeom prst="ellipse">
            <a:avLst/>
          </a:prstGeom>
          <a:solidFill>
            <a:srgbClr val="D97B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275320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5166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óptico de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humedad por reflexión IR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Autónoma de Querétaro</a:t>
            </a:r>
            <a:endParaRPr lang="en-US" sz="11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635D4BA4-3788-BE05-F55C-25F00C04853C}"/>
              </a:ext>
            </a:extLst>
          </p:cNvPr>
          <p:cNvSpPr/>
          <p:nvPr/>
        </p:nvSpPr>
        <p:spPr>
          <a:xfrm>
            <a:off x="855552" y="2525331"/>
            <a:ext cx="56185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J. Luis González Córdoba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C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RIEGO DE PRECISIÓN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62179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Riego Automático de Precisión para Plántulas de Tomate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CE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Y ESPECIFICACIONES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Dosificación controlada de 20 a 50 mL de agua por plántula, aplicada alrededor del tallo, cada 3 o 4 días.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pruebas: matriz de 30 plántulas dispuestas en 6 filas × 5 columnas.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Programable en cantidad de agua y tiempo de aplicación, con riego selectivo (una, varias o todas las plántulas) o simultáneo.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310128"/>
            <a:ext cx="6903720" cy="1481328"/>
          </a:xfrm>
          <a:prstGeom prst="roundRect">
            <a:avLst>
              <a:gd name="adj" fmla="val 4938"/>
            </a:avLst>
          </a:prstGeom>
          <a:solidFill>
            <a:srgbClr val="F3F6F3"/>
          </a:solidFill>
          <a:ln w="9525">
            <a:solidFill>
              <a:srgbClr val="DCE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58368" y="3419856"/>
            <a:ext cx="6501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F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SUGERIDO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3694176"/>
            <a:ext cx="6501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Accionamiento por electroválvulas o bomba peristáltica, calibradas en mL por segundo de apertura.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Enclavamientos de seguridad ante fuga, obstrucción o falla del actuador (volumen máximo por ciclo).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digital de cada riego aplicado, para trazabilidad y repetibilidad del experimento.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956048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266944"/>
            <a:ext cx="2179320" cy="960120"/>
          </a:xfrm>
          <a:prstGeom prst="roundRect">
            <a:avLst>
              <a:gd name="adj" fmla="val 6667"/>
            </a:avLst>
          </a:prstGeom>
          <a:solidFill>
            <a:srgbClr val="EFF3EE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66928" y="5340096"/>
            <a:ext cx="1959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del banco de riego para 30 plántulas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19400" y="5266944"/>
            <a:ext cx="2179320" cy="960120"/>
          </a:xfrm>
          <a:prstGeom prst="roundRect">
            <a:avLst>
              <a:gd name="adj" fmla="val 6667"/>
            </a:avLst>
          </a:prstGeom>
          <a:solidFill>
            <a:srgbClr val="EFF3EE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2929128" y="5340096"/>
            <a:ext cx="1959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para configurar volumen, tiempo y plántulas a regar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81600" y="5266944"/>
            <a:ext cx="2179320" cy="960120"/>
          </a:xfrm>
          <a:prstGeom prst="roundRect">
            <a:avLst>
              <a:gd name="adj" fmla="val 6667"/>
            </a:avLst>
          </a:prstGeom>
          <a:solidFill>
            <a:srgbClr val="EFF3EE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291328" y="5340096"/>
            <a:ext cx="1959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operación y reporte de calibración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35240" y="1481328"/>
            <a:ext cx="4096512" cy="4892040"/>
          </a:xfrm>
          <a:prstGeom prst="roundRect">
            <a:avLst>
              <a:gd name="adj" fmla="val 1786"/>
            </a:avLst>
          </a:prstGeom>
          <a:solidFill>
            <a:srgbClr val="163F2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863840" y="16459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CURRICULAR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1901952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Semestres 1° a 3° · Ingeniería en Automatización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37576" y="2487168"/>
            <a:ext cx="0" cy="1453896"/>
          </a:xfrm>
          <a:prstGeom prst="line">
            <a:avLst/>
          </a:prstGeom>
          <a:noFill/>
          <a:ln w="15875">
            <a:solidFill>
              <a:srgbClr val="5B8C72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7863840" y="2212848"/>
            <a:ext cx="347472" cy="347472"/>
          </a:xfrm>
          <a:prstGeom prst="ellipse">
            <a:avLst/>
          </a:prstGeom>
          <a:solidFill>
            <a:srgbClr val="5B8C7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8638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30184" y="219456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30184" y="2487168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30184" y="266090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control y secuencias de riego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30184" y="2999232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Asistido por Computadora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30184" y="317296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del bastidor para las 30 plántulas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37576" y="3959352"/>
            <a:ext cx="0" cy="1453896"/>
          </a:xfrm>
          <a:prstGeom prst="line">
            <a:avLst/>
          </a:prstGeom>
          <a:noFill/>
          <a:ln w="15875">
            <a:solidFill>
              <a:srgbClr val="5B8C72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7863840" y="3685032"/>
            <a:ext cx="347472" cy="347472"/>
          </a:xfrm>
          <a:prstGeom prst="ellipse">
            <a:avLst/>
          </a:prstGeom>
          <a:solidFill>
            <a:srgbClr val="5B8C7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786384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30184" y="3666744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2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30184" y="3959352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Eléctricos 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30184" y="413308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accionamiento de electroválvulas / bomba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30184" y="4471416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la Programación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30184" y="464515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estructuración modular del firmware y la GUI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863840" y="5157216"/>
            <a:ext cx="347472" cy="347472"/>
          </a:xfrm>
          <a:prstGeom prst="ellipse">
            <a:avLst/>
          </a:prstGeom>
          <a:solidFill>
            <a:srgbClr val="D97B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7863840" y="5157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30184" y="513892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3 (actual)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30184" y="5431536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Avanzada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30184" y="560527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interfaz gráfica (GUI)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30184" y="5943600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Sist. Digitales c/ Lóg. Reconfig. 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330184" y="611733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temporización y control digital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30184" y="645566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Ética y Ejercicio Profesional (trabajo colaborativo)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Desarrollo de Tecnologías en Automatización I  ·  3er semestre  ·  Ingeniería en Automatización, FI-UAQ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332720" y="6547104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5B8C7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8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MONITOREO IoT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62179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Monitoreo de Humedad y Temperatura con Dashboard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CE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8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Y ESPECIFICACIONES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individual de humedad y temperatura en cada una de las 30 plántulas del banco de pruebas.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datos en archivo local o, preferentemente, en la nube.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mediante dashboard accesible desde computadora y/o dispositivo móvil.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muestreo de 555 µHz.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310128"/>
            <a:ext cx="6903720" cy="1481328"/>
          </a:xfrm>
          <a:prstGeom prst="roundRect">
            <a:avLst>
              <a:gd name="adj" fmla="val 4938"/>
            </a:avLst>
          </a:prstGeom>
          <a:solidFill>
            <a:srgbClr val="F3F6F3"/>
          </a:solidFill>
          <a:ln w="9525">
            <a:solidFill>
              <a:srgbClr val="DCE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58368" y="3419856"/>
            <a:ext cx="6501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F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SUGERIDO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3694176"/>
            <a:ext cx="6501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Multiplexado de sensores para escalar de 1 a 30 puntos sin saturar el microcontrolador.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marca de tiempo (timestamp) y respaldo local ante pérdida de conexión a la nube.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visuales en el dashboard cuando humedad o temperatura salgan del rango óptimo del cultivo.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956048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8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266944"/>
            <a:ext cx="2179320" cy="960120"/>
          </a:xfrm>
          <a:prstGeom prst="roundRect">
            <a:avLst>
              <a:gd name="adj" fmla="val 6667"/>
            </a:avLst>
          </a:prstGeom>
          <a:solidFill>
            <a:srgbClr val="EFF3EE"/>
          </a:solidFill>
          <a:ln w="12700">
            <a:solidFill>
              <a:srgbClr val="5B8C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66928" y="5340096"/>
            <a:ext cx="1959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sensores instalada en el banco de 30 plántulas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19400" y="5266944"/>
            <a:ext cx="2179320" cy="960120"/>
          </a:xfrm>
          <a:prstGeom prst="roundRect">
            <a:avLst>
              <a:gd name="adj" fmla="val 6667"/>
            </a:avLst>
          </a:prstGeom>
          <a:solidFill>
            <a:srgbClr val="EFF3EE"/>
          </a:solidFill>
          <a:ln w="12700">
            <a:solidFill>
              <a:srgbClr val="5B8C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2929128" y="5340096"/>
            <a:ext cx="1959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/ registro histórico local o en la nube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81600" y="5266944"/>
            <a:ext cx="2179320" cy="960120"/>
          </a:xfrm>
          <a:prstGeom prst="roundRect">
            <a:avLst>
              <a:gd name="adj" fmla="val 6667"/>
            </a:avLst>
          </a:prstGeom>
          <a:solidFill>
            <a:srgbClr val="EFF3EE"/>
          </a:solidFill>
          <a:ln w="12700">
            <a:solidFill>
              <a:srgbClr val="5B8C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291328" y="5340096"/>
            <a:ext cx="1959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web/móvil con vista en tiempo real e histórico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35240" y="1481328"/>
            <a:ext cx="4096512" cy="4892040"/>
          </a:xfrm>
          <a:prstGeom prst="roundRect">
            <a:avLst>
              <a:gd name="adj" fmla="val 1786"/>
            </a:avLst>
          </a:prstGeom>
          <a:solidFill>
            <a:srgbClr val="163F2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863840" y="16459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CURRICULAR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1901952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Semestres 1° a 3° · Ingeniería en Automatización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37576" y="2487168"/>
            <a:ext cx="0" cy="1453896"/>
          </a:xfrm>
          <a:prstGeom prst="line">
            <a:avLst/>
          </a:prstGeom>
          <a:noFill/>
          <a:ln w="15875">
            <a:solidFill>
              <a:srgbClr val="5B8C72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7863840" y="2212848"/>
            <a:ext cx="347472" cy="347472"/>
          </a:xfrm>
          <a:prstGeom prst="ellipse">
            <a:avLst/>
          </a:prstGeom>
          <a:solidFill>
            <a:srgbClr val="5B8C7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8638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30184" y="219456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30184" y="2487168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30184" y="266090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y lectura de sensores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30184" y="2999232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y Estadística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30184" y="317296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filtrado de datos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37576" y="3959352"/>
            <a:ext cx="0" cy="1453896"/>
          </a:xfrm>
          <a:prstGeom prst="line">
            <a:avLst/>
          </a:prstGeom>
          <a:noFill/>
          <a:ln w="15875">
            <a:solidFill>
              <a:srgbClr val="5B8C72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7863840" y="3685032"/>
            <a:ext cx="347472" cy="347472"/>
          </a:xfrm>
          <a:prstGeom prst="ellipse">
            <a:avLst/>
          </a:prstGeom>
          <a:solidFill>
            <a:srgbClr val="5B8C7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786384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30184" y="3666744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2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30184" y="3959352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Eléctricos 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30184" y="413308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acondicionamiento de señales analógicas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30184" y="4471416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Metrología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30184" y="464515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y trazabilidad de mediciones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863840" y="5157216"/>
            <a:ext cx="347472" cy="347472"/>
          </a:xfrm>
          <a:prstGeom prst="ellipse">
            <a:avLst/>
          </a:prstGeom>
          <a:solidFill>
            <a:srgbClr val="D97B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7863840" y="5157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30184" y="513892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3 (actual)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30184" y="5431536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Avanzada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30184" y="560527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dashboard de visualización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30184" y="5943600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Sist. Digitales c/ Lóg. Reconfig. 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330184" y="611733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y conversión digital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30184" y="645566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Circuitos Eléctricos II (acondicionamiento multicanal)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Desarrollo de Tecnologías en Automatización I  ·  3er semestre  ·  Ingeniería en Automatización, FI-UAQ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332720" y="6547104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D97B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SENSÓRICA ÓPTICA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62179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Caracterización</a:t>
            </a:r>
            <a:r>
              <a:rPr lang="en-US" sz="24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Sensor Óptico de Humedad por Reflexión IR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CE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Y ESPECIFICACIONES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Diseño, síntesis y caracterización de un sensor óptico de humedad basado en la reflexión de un haz infrarrojo (IR) sobre el sustrato.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niveles de humedad de referencia (patrones) para la caracterización del sensor.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de la intensidad de reflexión del haz IR en función del nivel de humedad de la tierra.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310128"/>
            <a:ext cx="6903720" cy="1481328"/>
          </a:xfrm>
          <a:prstGeom prst="roundRect">
            <a:avLst>
              <a:gd name="adj" fmla="val 4938"/>
            </a:avLst>
          </a:prstGeom>
          <a:solidFill>
            <a:srgbClr val="F3F6F3"/>
          </a:solidFill>
          <a:ln w="9525">
            <a:solidFill>
              <a:srgbClr val="DCE4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58368" y="3419856"/>
            <a:ext cx="6501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F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SUGERIDO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3694176"/>
            <a:ext cx="6501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contra un sensor de humedad de referencia (resistivo o capacitivo).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estadístico de repetibilidad y error, con varias mediciones por nivel de humedad.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tipo hoja de datos (rango, resolución, precisión) del sensor desarrollado.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956048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266944"/>
            <a:ext cx="2179320" cy="960120"/>
          </a:xfrm>
          <a:prstGeom prst="roundRect">
            <a:avLst>
              <a:gd name="adj" fmla="val 6667"/>
            </a:avLst>
          </a:prstGeom>
          <a:solidFill>
            <a:srgbClr val="EFF3EE"/>
          </a:solidFill>
          <a:ln w="12700">
            <a:solidFill>
              <a:srgbClr val="D97B2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66928" y="5340096"/>
            <a:ext cx="1959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del sensor óptico emisor–receptor IR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19400" y="5266944"/>
            <a:ext cx="2179320" cy="960120"/>
          </a:xfrm>
          <a:prstGeom prst="roundRect">
            <a:avLst>
              <a:gd name="adj" fmla="val 6667"/>
            </a:avLst>
          </a:prstGeom>
          <a:solidFill>
            <a:srgbClr val="EFF3EE"/>
          </a:solidFill>
          <a:ln w="12700">
            <a:solidFill>
              <a:srgbClr val="D97B2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2929128" y="5340096"/>
            <a:ext cx="1959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calibración reflexión vs. humedad y su modelo de ajuste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81600" y="5266944"/>
            <a:ext cx="2179320" cy="960120"/>
          </a:xfrm>
          <a:prstGeom prst="roundRect">
            <a:avLst>
              <a:gd name="adj" fmla="val 6667"/>
            </a:avLst>
          </a:prstGeom>
          <a:solidFill>
            <a:srgbClr val="EFF3EE"/>
          </a:solidFill>
          <a:ln w="12700">
            <a:solidFill>
              <a:srgbClr val="D97B2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291328" y="5340096"/>
            <a:ext cx="1959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caracterización (metodología, datos, incertidumbre)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35240" y="1481328"/>
            <a:ext cx="4096512" cy="4892040"/>
          </a:xfrm>
          <a:prstGeom prst="roundRect">
            <a:avLst>
              <a:gd name="adj" fmla="val 1786"/>
            </a:avLst>
          </a:prstGeom>
          <a:solidFill>
            <a:srgbClr val="163F2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863840" y="16459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CURRICULAR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1901952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Semestres 1° a 3° · Ingeniería en Automatización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37576" y="2487168"/>
            <a:ext cx="0" cy="1453896"/>
          </a:xfrm>
          <a:prstGeom prst="line">
            <a:avLst/>
          </a:prstGeom>
          <a:noFill/>
          <a:ln w="15875">
            <a:solidFill>
              <a:srgbClr val="5B8C72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7863840" y="2212848"/>
            <a:ext cx="347472" cy="347472"/>
          </a:xfrm>
          <a:prstGeom prst="ellipse">
            <a:avLst/>
          </a:prstGeom>
          <a:solidFill>
            <a:srgbClr val="5B8C7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8638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30184" y="219456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30184" y="2487168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30184" y="266090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reflexión y radiación IR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30184" y="2999232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y Estadística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30184" y="317296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y análisis de curvas de calibración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37576" y="3959352"/>
            <a:ext cx="0" cy="1453896"/>
          </a:xfrm>
          <a:prstGeom prst="line">
            <a:avLst/>
          </a:prstGeom>
          <a:noFill/>
          <a:ln w="15875">
            <a:solidFill>
              <a:srgbClr val="5B8C72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7863840" y="3685032"/>
            <a:ext cx="347472" cy="347472"/>
          </a:xfrm>
          <a:prstGeom prst="ellipse">
            <a:avLst/>
          </a:prstGeom>
          <a:solidFill>
            <a:srgbClr val="5B8C7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786384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30184" y="3666744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2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30184" y="3959352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Eléctricos 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30184" y="413308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emisor-receptor IR y fotodetector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30184" y="4471416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Metrología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30184" y="464515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y trazabilidad de caracterización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863840" y="5157216"/>
            <a:ext cx="347472" cy="347472"/>
          </a:xfrm>
          <a:prstGeom prst="ellipse">
            <a:avLst/>
          </a:prstGeom>
          <a:solidFill>
            <a:srgbClr val="D97B2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7863840" y="5157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30184" y="513892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3 (actual)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30184" y="5431536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Numéricos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30184" y="560527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no lineal reflexión-humedad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30184" y="5943600"/>
            <a:ext cx="3182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Eléctricos II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330184" y="611733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analógica del fotodetector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30184" y="645566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Programación Avanzada (adquisición y graficado de datos)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Desarrollo de Tecnologías en Automatización I  ·  3er semestre  ·  Ingeniería en Automatización, FI-UAQ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332720" y="6547104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4572000" cy="4572000"/>
          </a:xfrm>
          <a:prstGeom prst="ellipse">
            <a:avLst/>
          </a:prstGeom>
          <a:solidFill>
            <a:srgbClr val="1F5D3F">
              <a:alpha val="6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5B8C72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J. Luis González Córdoba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Investigador · Facultad de Ingeniería, UAQ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E9DE"/>
                </a:solidFill>
                <a:latin typeface="Calibri" pitchFamily="34" charset="0"/>
                <a:cs typeface="Calibri" pitchFamily="34" charset="-120"/>
              </a:rPr>
              <a:t>jose.gonzalez.cordoba@uaq.edu.mx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3840480" cy="0"/>
          </a:xfrm>
          <a:prstGeom prst="line">
            <a:avLst/>
          </a:prstGeom>
          <a:noFill/>
          <a:ln w="15875">
            <a:solidFill>
              <a:srgbClr val="5B8C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Desarrollo de Tecnologías en Automatización I  ·  3er semestre  ·  Ingeniería en Automatización, FI-UAQ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332720" y="6547104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916</Words>
  <Application>Microsoft Office PowerPoint</Application>
  <PresentationFormat>Panorámica</PresentationFormat>
  <Paragraphs>140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LUIS GONZALEZ CORDOBA</cp:lastModifiedBy>
  <cp:revision>1</cp:revision>
  <dcterms:created xsi:type="dcterms:W3CDTF">2026-08-17T20:44:25Z</dcterms:created>
  <dcterms:modified xsi:type="dcterms:W3CDTF">2026-08-17T20:51:28Z</dcterms:modified>
</cp:coreProperties>
</file>